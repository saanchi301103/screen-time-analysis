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9144000"/>
  <p:notesSz cx="7559675" cy="106918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20" roundtripDataSignature="AMtx7mj8wuJTCCbS05lGx88kMA9EIXFDz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276600" cy="5365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4281488" y="0"/>
            <a:ext cx="3276600" cy="536575"/>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374775" y="1336675"/>
            <a:ext cx="4810125" cy="36083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755650" y="5145088"/>
            <a:ext cx="6048375" cy="42100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10155238"/>
            <a:ext cx="3276600" cy="536575"/>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4281488" y="10155238"/>
            <a:ext cx="3276600" cy="536575"/>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1:notes"/>
          <p:cNvSpPr/>
          <p:nvPr>
            <p:ph idx="2" type="sldImg"/>
          </p:nvPr>
        </p:nvSpPr>
        <p:spPr>
          <a:xfrm>
            <a:off x="1374775" y="1336675"/>
            <a:ext cx="4810125" cy="36083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 name="Google Shape;80;p1:notes"/>
          <p:cNvSpPr txBox="1"/>
          <p:nvPr>
            <p:ph idx="1" type="body"/>
          </p:nvPr>
        </p:nvSpPr>
        <p:spPr>
          <a:xfrm>
            <a:off x="755650" y="5145088"/>
            <a:ext cx="6048375" cy="42100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 name="Google Shape;81;p1:notes"/>
          <p:cNvSpPr txBox="1"/>
          <p:nvPr>
            <p:ph idx="12" type="sldNum"/>
          </p:nvPr>
        </p:nvSpPr>
        <p:spPr>
          <a:xfrm>
            <a:off x="4281488" y="10155238"/>
            <a:ext cx="3276600" cy="536575"/>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82" name="Google Shape;82;p1:notes"/>
          <p:cNvSpPr txBox="1"/>
          <p:nvPr>
            <p:ph idx="11" type="ftr"/>
          </p:nvPr>
        </p:nvSpPr>
        <p:spPr>
          <a:xfrm>
            <a:off x="0" y="10155238"/>
            <a:ext cx="3276600" cy="536575"/>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rPr lang="en-US"/>
              <a:t>Name of the faculty [Group: G00] [Sem:2nd]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2:notes"/>
          <p:cNvSpPr txBox="1"/>
          <p:nvPr>
            <p:ph idx="1" type="body"/>
          </p:nvPr>
        </p:nvSpPr>
        <p:spPr>
          <a:xfrm>
            <a:off x="755650" y="5145088"/>
            <a:ext cx="6048375" cy="42100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2:notes"/>
          <p:cNvSpPr/>
          <p:nvPr>
            <p:ph idx="2" type="sldImg"/>
          </p:nvPr>
        </p:nvSpPr>
        <p:spPr>
          <a:xfrm>
            <a:off x="1374775" y="1336675"/>
            <a:ext cx="4810125" cy="3608388"/>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6813604e6_1_12: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6813604e6_1_12: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g3e6813604e6_1_12: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e6813604e6_1_22: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e6813604e6_1_22: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 name="Google Shape;102;g3e6813604e6_1_22: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e6813604e6_1_29: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e6813604e6_1_29: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9" name="Google Shape;109;g3e6813604e6_1_29: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e6813604e6_1_37: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e6813604e6_1_37: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g3e6813604e6_1_37: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e6813604e6_1_45: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e6813604e6_1_45: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g3e6813604e6_1_45: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e6813604e6_1_53: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e6813604e6_1_53: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g3e6813604e6_1_53: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e6813604e6_1_61: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e6813604e6_1_61: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 name="Google Shape;140;g3e6813604e6_1_61: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e6813604e6_1_70: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e6813604e6_1_70: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 name="Google Shape;148;g3e6813604e6_1_70: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e6813604e6_1_78: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e6813604e6_1_78: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 name="Google Shape;155;g3e6813604e6_1_78: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6813604e6_1_85: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e6813604e6_1_85: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2" name="Google Shape;162;g3e6813604e6_1_85: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6813604e6_1_93:notes"/>
          <p:cNvSpPr/>
          <p:nvPr>
            <p:ph idx="2" type="sldImg"/>
          </p:nvPr>
        </p:nvSpPr>
        <p:spPr>
          <a:xfrm>
            <a:off x="1374775" y="1336675"/>
            <a:ext cx="4810200" cy="36084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e6813604e6_1_93:notes"/>
          <p:cNvSpPr txBox="1"/>
          <p:nvPr>
            <p:ph idx="1" type="body"/>
          </p:nvPr>
        </p:nvSpPr>
        <p:spPr>
          <a:xfrm>
            <a:off x="755650" y="5145088"/>
            <a:ext cx="6048300" cy="42102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9" name="Google Shape;169;g3e6813604e6_1_93:notes"/>
          <p:cNvSpPr txBox="1"/>
          <p:nvPr>
            <p:ph idx="12" type="sldNum"/>
          </p:nvPr>
        </p:nvSpPr>
        <p:spPr>
          <a:xfrm>
            <a:off x="4281488" y="10155238"/>
            <a:ext cx="3276600" cy="53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3:notes"/>
          <p:cNvSpPr txBox="1"/>
          <p:nvPr>
            <p:ph idx="1" type="body"/>
          </p:nvPr>
        </p:nvSpPr>
        <p:spPr>
          <a:xfrm>
            <a:off x="755650" y="5145088"/>
            <a:ext cx="6048375" cy="42100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3:notes"/>
          <p:cNvSpPr/>
          <p:nvPr>
            <p:ph idx="2" type="sldImg"/>
          </p:nvPr>
        </p:nvSpPr>
        <p:spPr>
          <a:xfrm>
            <a:off x="1374775" y="1336675"/>
            <a:ext cx="4810125" cy="3608388"/>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30" name="Shape 3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31" name="Shape 31"/>
        <p:cNvGrpSpPr/>
        <p:nvPr/>
      </p:nvGrpSpPr>
      <p:grpSpPr>
        <a:xfrm>
          <a:off x="0" y="0"/>
          <a:ext cx="0" cy="0"/>
          <a:chOff x="0" y="0"/>
          <a:chExt cx="0" cy="0"/>
        </a:xfrm>
      </p:grpSpPr>
      <p:sp>
        <p:nvSpPr>
          <p:cNvPr id="32" name="Google Shape;32;p6"/>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6"/>
          <p:cNvSpPr txBox="1"/>
          <p:nvPr>
            <p:ph idx="1" type="subTitle"/>
          </p:nvPr>
        </p:nvSpPr>
        <p:spPr>
          <a:xfrm>
            <a:off x="457200" y="1604520"/>
            <a:ext cx="8229240" cy="3977280"/>
          </a:xfrm>
          <a:prstGeom prst="rect">
            <a:avLst/>
          </a:prstGeom>
          <a:noFill/>
          <a:ln>
            <a:noFill/>
          </a:ln>
        </p:spPr>
        <p:txBody>
          <a:bodyPr anchorCtr="0" anchor="ctr" bIns="0" lIns="0" spcFirstLastPara="1" rIns="0" wrap="square" tIns="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34" name="Shape 34"/>
        <p:cNvGrpSpPr/>
        <p:nvPr/>
      </p:nvGrpSpPr>
      <p:grpSpPr>
        <a:xfrm>
          <a:off x="0" y="0"/>
          <a:ext cx="0" cy="0"/>
          <a:chOff x="0" y="0"/>
          <a:chExt cx="0" cy="0"/>
        </a:xfrm>
      </p:grpSpPr>
      <p:sp>
        <p:nvSpPr>
          <p:cNvPr id="35" name="Google Shape;35;p7"/>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7"/>
          <p:cNvSpPr txBox="1"/>
          <p:nvPr>
            <p:ph idx="1" type="body"/>
          </p:nvPr>
        </p:nvSpPr>
        <p:spPr>
          <a:xfrm>
            <a:off x="457200" y="1604520"/>
            <a:ext cx="8229240" cy="397728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37" name="Shape 37"/>
        <p:cNvGrpSpPr/>
        <p:nvPr/>
      </p:nvGrpSpPr>
      <p:grpSpPr>
        <a:xfrm>
          <a:off x="0" y="0"/>
          <a:ext cx="0" cy="0"/>
          <a:chOff x="0" y="0"/>
          <a:chExt cx="0" cy="0"/>
        </a:xfrm>
      </p:grpSpPr>
      <p:sp>
        <p:nvSpPr>
          <p:cNvPr id="38" name="Google Shape;38;p8"/>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8"/>
          <p:cNvSpPr txBox="1"/>
          <p:nvPr>
            <p:ph idx="1" type="body"/>
          </p:nvPr>
        </p:nvSpPr>
        <p:spPr>
          <a:xfrm>
            <a:off x="457200" y="1604520"/>
            <a:ext cx="4015800" cy="397728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8"/>
          <p:cNvSpPr txBox="1"/>
          <p:nvPr>
            <p:ph idx="2" type="body"/>
          </p:nvPr>
        </p:nvSpPr>
        <p:spPr>
          <a:xfrm>
            <a:off x="4674240" y="1604520"/>
            <a:ext cx="4015800" cy="397728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9"/>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43" name="Shape 43"/>
        <p:cNvGrpSpPr/>
        <p:nvPr/>
      </p:nvGrpSpPr>
      <p:grpSpPr>
        <a:xfrm>
          <a:off x="0" y="0"/>
          <a:ext cx="0" cy="0"/>
          <a:chOff x="0" y="0"/>
          <a:chExt cx="0" cy="0"/>
        </a:xfrm>
      </p:grpSpPr>
      <p:sp>
        <p:nvSpPr>
          <p:cNvPr id="44" name="Google Shape;44;p10"/>
          <p:cNvSpPr txBox="1"/>
          <p:nvPr>
            <p:ph idx="1" type="subTitle"/>
          </p:nvPr>
        </p:nvSpPr>
        <p:spPr>
          <a:xfrm>
            <a:off x="0" y="0"/>
            <a:ext cx="5486040" cy="4238280"/>
          </a:xfrm>
          <a:prstGeom prst="rect">
            <a:avLst/>
          </a:prstGeom>
          <a:noFill/>
          <a:ln>
            <a:noFill/>
          </a:ln>
        </p:spPr>
        <p:txBody>
          <a:bodyPr anchorCtr="0" anchor="ctr" bIns="0" lIns="0" spcFirstLastPara="1" rIns="0" wrap="square" tIns="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45" name="Shape 45"/>
        <p:cNvGrpSpPr/>
        <p:nvPr/>
      </p:nvGrpSpPr>
      <p:grpSpPr>
        <a:xfrm>
          <a:off x="0" y="0"/>
          <a:ext cx="0" cy="0"/>
          <a:chOff x="0" y="0"/>
          <a:chExt cx="0" cy="0"/>
        </a:xfrm>
      </p:grpSpPr>
      <p:sp>
        <p:nvSpPr>
          <p:cNvPr id="46" name="Google Shape;46;p11"/>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11"/>
          <p:cNvSpPr txBox="1"/>
          <p:nvPr>
            <p:ph idx="1" type="body"/>
          </p:nvPr>
        </p:nvSpPr>
        <p:spPr>
          <a:xfrm>
            <a:off x="45720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11"/>
          <p:cNvSpPr txBox="1"/>
          <p:nvPr>
            <p:ph idx="2" type="body"/>
          </p:nvPr>
        </p:nvSpPr>
        <p:spPr>
          <a:xfrm>
            <a:off x="4674240" y="1604520"/>
            <a:ext cx="4015800" cy="397728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11"/>
          <p:cNvSpPr txBox="1"/>
          <p:nvPr>
            <p:ph idx="3" type="body"/>
          </p:nvPr>
        </p:nvSpPr>
        <p:spPr>
          <a:xfrm>
            <a:off x="457200" y="368208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50" name="Shape 50"/>
        <p:cNvGrpSpPr/>
        <p:nvPr/>
      </p:nvGrpSpPr>
      <p:grpSpPr>
        <a:xfrm>
          <a:off x="0" y="0"/>
          <a:ext cx="0" cy="0"/>
          <a:chOff x="0" y="0"/>
          <a:chExt cx="0" cy="0"/>
        </a:xfrm>
      </p:grpSpPr>
      <p:sp>
        <p:nvSpPr>
          <p:cNvPr id="51" name="Google Shape;51;p12"/>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12"/>
          <p:cNvSpPr txBox="1"/>
          <p:nvPr>
            <p:ph idx="1" type="body"/>
          </p:nvPr>
        </p:nvSpPr>
        <p:spPr>
          <a:xfrm>
            <a:off x="457200" y="1604520"/>
            <a:ext cx="4015800" cy="397728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3" name="Google Shape;53;p12"/>
          <p:cNvSpPr txBox="1"/>
          <p:nvPr>
            <p:ph idx="2" type="body"/>
          </p:nvPr>
        </p:nvSpPr>
        <p:spPr>
          <a:xfrm>
            <a:off x="467424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4" name="Google Shape;54;p12"/>
          <p:cNvSpPr txBox="1"/>
          <p:nvPr>
            <p:ph idx="3" type="body"/>
          </p:nvPr>
        </p:nvSpPr>
        <p:spPr>
          <a:xfrm>
            <a:off x="4674240" y="368208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55" name="Shape 55"/>
        <p:cNvGrpSpPr/>
        <p:nvPr/>
      </p:nvGrpSpPr>
      <p:grpSpPr>
        <a:xfrm>
          <a:off x="0" y="0"/>
          <a:ext cx="0" cy="0"/>
          <a:chOff x="0" y="0"/>
          <a:chExt cx="0" cy="0"/>
        </a:xfrm>
      </p:grpSpPr>
      <p:sp>
        <p:nvSpPr>
          <p:cNvPr id="56" name="Google Shape;56;p13"/>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7" name="Google Shape;57;p13"/>
          <p:cNvSpPr txBox="1"/>
          <p:nvPr>
            <p:ph idx="1" type="body"/>
          </p:nvPr>
        </p:nvSpPr>
        <p:spPr>
          <a:xfrm>
            <a:off x="45720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8" name="Google Shape;58;p13"/>
          <p:cNvSpPr txBox="1"/>
          <p:nvPr>
            <p:ph idx="2" type="body"/>
          </p:nvPr>
        </p:nvSpPr>
        <p:spPr>
          <a:xfrm>
            <a:off x="467424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9" name="Google Shape;59;p13"/>
          <p:cNvSpPr txBox="1"/>
          <p:nvPr>
            <p:ph idx="3" type="body"/>
          </p:nvPr>
        </p:nvSpPr>
        <p:spPr>
          <a:xfrm>
            <a:off x="457200" y="3682080"/>
            <a:ext cx="822924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60" name="Shape 60"/>
        <p:cNvGrpSpPr/>
        <p:nvPr/>
      </p:nvGrpSpPr>
      <p:grpSpPr>
        <a:xfrm>
          <a:off x="0" y="0"/>
          <a:ext cx="0" cy="0"/>
          <a:chOff x="0" y="0"/>
          <a:chExt cx="0" cy="0"/>
        </a:xfrm>
      </p:grpSpPr>
      <p:sp>
        <p:nvSpPr>
          <p:cNvPr id="61" name="Google Shape;61;p14"/>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4"/>
          <p:cNvSpPr txBox="1"/>
          <p:nvPr>
            <p:ph idx="1" type="body"/>
          </p:nvPr>
        </p:nvSpPr>
        <p:spPr>
          <a:xfrm>
            <a:off x="457200" y="1604520"/>
            <a:ext cx="822924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3" name="Google Shape;63;p14"/>
          <p:cNvSpPr txBox="1"/>
          <p:nvPr>
            <p:ph idx="2" type="body"/>
          </p:nvPr>
        </p:nvSpPr>
        <p:spPr>
          <a:xfrm>
            <a:off x="457200" y="3682080"/>
            <a:ext cx="822924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64" name="Shape 64"/>
        <p:cNvGrpSpPr/>
        <p:nvPr/>
      </p:nvGrpSpPr>
      <p:grpSpPr>
        <a:xfrm>
          <a:off x="0" y="0"/>
          <a:ext cx="0" cy="0"/>
          <a:chOff x="0" y="0"/>
          <a:chExt cx="0" cy="0"/>
        </a:xfrm>
      </p:grpSpPr>
      <p:sp>
        <p:nvSpPr>
          <p:cNvPr id="65" name="Google Shape;65;p15"/>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5"/>
          <p:cNvSpPr txBox="1"/>
          <p:nvPr>
            <p:ph idx="1" type="body"/>
          </p:nvPr>
        </p:nvSpPr>
        <p:spPr>
          <a:xfrm>
            <a:off x="45720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5"/>
          <p:cNvSpPr txBox="1"/>
          <p:nvPr>
            <p:ph idx="2" type="body"/>
          </p:nvPr>
        </p:nvSpPr>
        <p:spPr>
          <a:xfrm>
            <a:off x="4674240" y="160452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8" name="Google Shape;68;p15"/>
          <p:cNvSpPr txBox="1"/>
          <p:nvPr>
            <p:ph idx="3" type="body"/>
          </p:nvPr>
        </p:nvSpPr>
        <p:spPr>
          <a:xfrm>
            <a:off x="457200" y="368208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9" name="Google Shape;69;p15"/>
          <p:cNvSpPr txBox="1"/>
          <p:nvPr>
            <p:ph idx="4" type="body"/>
          </p:nvPr>
        </p:nvSpPr>
        <p:spPr>
          <a:xfrm>
            <a:off x="4674240" y="3682080"/>
            <a:ext cx="40158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70" name="Shape 70"/>
        <p:cNvGrpSpPr/>
        <p:nvPr/>
      </p:nvGrpSpPr>
      <p:grpSpPr>
        <a:xfrm>
          <a:off x="0" y="0"/>
          <a:ext cx="0" cy="0"/>
          <a:chOff x="0" y="0"/>
          <a:chExt cx="0" cy="0"/>
        </a:xfrm>
      </p:grpSpPr>
      <p:sp>
        <p:nvSpPr>
          <p:cNvPr id="71" name="Google Shape;71;p16"/>
          <p:cNvSpPr txBox="1"/>
          <p:nvPr>
            <p:ph type="title"/>
          </p:nvPr>
        </p:nvSpPr>
        <p:spPr>
          <a:xfrm>
            <a:off x="0" y="0"/>
            <a:ext cx="5486040" cy="914040"/>
          </a:xfrm>
          <a:prstGeom prst="rect">
            <a:avLst/>
          </a:prstGeom>
          <a:noFill/>
          <a:ln>
            <a:noFill/>
          </a:ln>
        </p:spPr>
        <p:txBody>
          <a:bodyPr anchorCtr="0" anchor="ctr" bIns="0" lIns="0" spcFirstLastPara="1" rIns="0" wrap="square" tIns="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6"/>
          <p:cNvSpPr txBox="1"/>
          <p:nvPr>
            <p:ph idx="1" type="body"/>
          </p:nvPr>
        </p:nvSpPr>
        <p:spPr>
          <a:xfrm>
            <a:off x="457200" y="160452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6"/>
          <p:cNvSpPr txBox="1"/>
          <p:nvPr>
            <p:ph idx="2" type="body"/>
          </p:nvPr>
        </p:nvSpPr>
        <p:spPr>
          <a:xfrm>
            <a:off x="3239640" y="160452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4" name="Google Shape;74;p16"/>
          <p:cNvSpPr txBox="1"/>
          <p:nvPr>
            <p:ph idx="3" type="body"/>
          </p:nvPr>
        </p:nvSpPr>
        <p:spPr>
          <a:xfrm>
            <a:off x="6022080" y="160452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16"/>
          <p:cNvSpPr txBox="1"/>
          <p:nvPr>
            <p:ph idx="4" type="body"/>
          </p:nvPr>
        </p:nvSpPr>
        <p:spPr>
          <a:xfrm>
            <a:off x="457200" y="368208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16"/>
          <p:cNvSpPr txBox="1"/>
          <p:nvPr>
            <p:ph idx="5" type="body"/>
          </p:nvPr>
        </p:nvSpPr>
        <p:spPr>
          <a:xfrm>
            <a:off x="3239640" y="368208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6"/>
          <p:cNvSpPr txBox="1"/>
          <p:nvPr>
            <p:ph idx="6" type="body"/>
          </p:nvPr>
        </p:nvSpPr>
        <p:spPr>
          <a:xfrm>
            <a:off x="6022080" y="3682080"/>
            <a:ext cx="2649600" cy="189684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slideLayout" Target="../slideLayouts/slideLayout11.xml"/><Relationship Id="rId12" Type="http://schemas.openxmlformats.org/officeDocument/2006/relationships/slideLayout" Target="../slideLayouts/slideLayout10.xml"/><Relationship Id="rId1" Type="http://schemas.openxmlformats.org/officeDocument/2006/relationships/image" Target="../media/image1.png"/><Relationship Id="rId2" Type="http://schemas.openxmlformats.org/officeDocument/2006/relationships/image" Target="../media/image2.jp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15" Type="http://schemas.openxmlformats.org/officeDocument/2006/relationships/theme" Target="../theme/theme2.xml"/><Relationship Id="rId14" Type="http://schemas.openxmlformats.org/officeDocument/2006/relationships/slideLayout" Target="../slideLayouts/slideLayout1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4"/>
          <p:cNvSpPr/>
          <p:nvPr/>
        </p:nvSpPr>
        <p:spPr>
          <a:xfrm>
            <a:off x="0" y="0"/>
            <a:ext cx="9143640" cy="837720"/>
          </a:xfrm>
          <a:prstGeom prst="rect">
            <a:avLst/>
          </a:prstGeom>
          <a:solidFill>
            <a:srgbClr val="FF33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4"/>
          <p:cNvSpPr/>
          <p:nvPr/>
        </p:nvSpPr>
        <p:spPr>
          <a:xfrm flipH="1" rot="10800000">
            <a:off x="0" y="6704640"/>
            <a:ext cx="9143640" cy="197640"/>
          </a:xfrm>
          <a:prstGeom prst="rect">
            <a:avLst/>
          </a:prstGeom>
          <a:solidFill>
            <a:srgbClr val="FF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gif" id="12" name="Google Shape;12;p4"/>
          <p:cNvPicPr preferRelativeResize="0"/>
          <p:nvPr/>
        </p:nvPicPr>
        <p:blipFill rotWithShape="1">
          <a:blip r:embed="rId1">
            <a:alphaModFix/>
          </a:blip>
          <a:srcRect b="10718" l="0" r="0" t="0"/>
          <a:stretch/>
        </p:blipFill>
        <p:spPr>
          <a:xfrm>
            <a:off x="6553080" y="228600"/>
            <a:ext cx="2057040" cy="634680"/>
          </a:xfrm>
          <a:prstGeom prst="rect">
            <a:avLst/>
          </a:prstGeom>
          <a:noFill/>
          <a:ln>
            <a:noFill/>
          </a:ln>
        </p:spPr>
      </p:pic>
      <p:pic>
        <p:nvPicPr>
          <p:cNvPr descr="LOGO.gif" id="13" name="Google Shape;13;p4"/>
          <p:cNvPicPr preferRelativeResize="0"/>
          <p:nvPr/>
        </p:nvPicPr>
        <p:blipFill rotWithShape="1">
          <a:blip r:embed="rId1">
            <a:alphaModFix/>
          </a:blip>
          <a:srcRect b="10718" l="0" r="0" t="0"/>
          <a:stretch/>
        </p:blipFill>
        <p:spPr>
          <a:xfrm>
            <a:off x="6553080" y="228600"/>
            <a:ext cx="2057040" cy="634680"/>
          </a:xfrm>
          <a:prstGeom prst="rect">
            <a:avLst/>
          </a:prstGeom>
          <a:noFill/>
          <a:ln>
            <a:noFill/>
          </a:ln>
        </p:spPr>
      </p:pic>
      <p:grpSp>
        <p:nvGrpSpPr>
          <p:cNvPr id="14" name="Google Shape;14;p4"/>
          <p:cNvGrpSpPr/>
          <p:nvPr/>
        </p:nvGrpSpPr>
        <p:grpSpPr>
          <a:xfrm>
            <a:off x="6146640" y="0"/>
            <a:ext cx="2997000" cy="875880"/>
            <a:chOff x="6146640" y="0"/>
            <a:chExt cx="2997000" cy="875880"/>
          </a:xfrm>
        </p:grpSpPr>
        <p:sp>
          <p:nvSpPr>
            <p:cNvPr id="15" name="Google Shape;15;p4"/>
            <p:cNvSpPr/>
            <p:nvPr/>
          </p:nvSpPr>
          <p:spPr>
            <a:xfrm>
              <a:off x="6146640" y="0"/>
              <a:ext cx="2997000" cy="837720"/>
            </a:xfrm>
            <a:prstGeom prst="rect">
              <a:avLst/>
            </a:prstGeom>
            <a:solidFill>
              <a:srgbClr val="FF33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gif" id="16" name="Google Shape;16;p4"/>
            <p:cNvPicPr preferRelativeResize="0"/>
            <p:nvPr/>
          </p:nvPicPr>
          <p:blipFill rotWithShape="1">
            <a:blip r:embed="rId1">
              <a:alphaModFix/>
            </a:blip>
            <a:srcRect b="10718" l="0" r="0" t="0"/>
            <a:stretch/>
          </p:blipFill>
          <p:spPr>
            <a:xfrm>
              <a:off x="6553080" y="228600"/>
              <a:ext cx="2057040" cy="634680"/>
            </a:xfrm>
            <a:prstGeom prst="rect">
              <a:avLst/>
            </a:prstGeom>
            <a:noFill/>
            <a:ln>
              <a:noFill/>
            </a:ln>
          </p:spPr>
        </p:pic>
        <p:sp>
          <p:nvSpPr>
            <p:cNvPr id="17" name="Google Shape;17;p4"/>
            <p:cNvSpPr/>
            <p:nvPr/>
          </p:nvSpPr>
          <p:spPr>
            <a:xfrm>
              <a:off x="6527880" y="190440"/>
              <a:ext cx="2076120" cy="68544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logo.jpg" id="18" name="Google Shape;18;p4"/>
          <p:cNvPicPr preferRelativeResize="0"/>
          <p:nvPr/>
        </p:nvPicPr>
        <p:blipFill rotWithShape="1">
          <a:blip r:embed="rId2">
            <a:alphaModFix/>
          </a:blip>
          <a:srcRect b="0" l="0" r="0" t="0"/>
          <a:stretch/>
        </p:blipFill>
        <p:spPr>
          <a:xfrm>
            <a:off x="6553080" y="228600"/>
            <a:ext cx="1920600" cy="609120"/>
          </a:xfrm>
          <a:prstGeom prst="rect">
            <a:avLst/>
          </a:prstGeom>
          <a:noFill/>
          <a:ln>
            <a:noFill/>
          </a:ln>
        </p:spPr>
      </p:pic>
      <p:pic>
        <p:nvPicPr>
          <p:cNvPr descr="LOGO.gif" id="19" name="Google Shape;19;p4"/>
          <p:cNvPicPr preferRelativeResize="0"/>
          <p:nvPr/>
        </p:nvPicPr>
        <p:blipFill rotWithShape="1">
          <a:blip r:embed="rId1">
            <a:alphaModFix/>
          </a:blip>
          <a:srcRect b="10718" l="0" r="0" t="0"/>
          <a:stretch/>
        </p:blipFill>
        <p:spPr>
          <a:xfrm>
            <a:off x="6553080" y="228600"/>
            <a:ext cx="2057040" cy="634680"/>
          </a:xfrm>
          <a:prstGeom prst="rect">
            <a:avLst/>
          </a:prstGeom>
          <a:noFill/>
          <a:ln>
            <a:noFill/>
          </a:ln>
        </p:spPr>
      </p:pic>
      <p:grpSp>
        <p:nvGrpSpPr>
          <p:cNvPr id="20" name="Google Shape;20;p4"/>
          <p:cNvGrpSpPr/>
          <p:nvPr/>
        </p:nvGrpSpPr>
        <p:grpSpPr>
          <a:xfrm>
            <a:off x="6146640" y="0"/>
            <a:ext cx="2997000" cy="875880"/>
            <a:chOff x="6146640" y="0"/>
            <a:chExt cx="2997000" cy="875880"/>
          </a:xfrm>
        </p:grpSpPr>
        <p:sp>
          <p:nvSpPr>
            <p:cNvPr id="21" name="Google Shape;21;p4"/>
            <p:cNvSpPr/>
            <p:nvPr/>
          </p:nvSpPr>
          <p:spPr>
            <a:xfrm>
              <a:off x="6146640" y="0"/>
              <a:ext cx="2997000" cy="837720"/>
            </a:xfrm>
            <a:prstGeom prst="rect">
              <a:avLst/>
            </a:prstGeom>
            <a:solidFill>
              <a:srgbClr val="FF33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gif" id="22" name="Google Shape;22;p4"/>
            <p:cNvPicPr preferRelativeResize="0"/>
            <p:nvPr/>
          </p:nvPicPr>
          <p:blipFill rotWithShape="1">
            <a:blip r:embed="rId1">
              <a:alphaModFix/>
            </a:blip>
            <a:srcRect b="10718" l="0" r="0" t="0"/>
            <a:stretch/>
          </p:blipFill>
          <p:spPr>
            <a:xfrm>
              <a:off x="6553080" y="228600"/>
              <a:ext cx="2057040" cy="634680"/>
            </a:xfrm>
            <a:prstGeom prst="rect">
              <a:avLst/>
            </a:prstGeom>
            <a:noFill/>
            <a:ln>
              <a:noFill/>
            </a:ln>
          </p:spPr>
        </p:pic>
        <p:sp>
          <p:nvSpPr>
            <p:cNvPr id="23" name="Google Shape;23;p4"/>
            <p:cNvSpPr/>
            <p:nvPr/>
          </p:nvSpPr>
          <p:spPr>
            <a:xfrm>
              <a:off x="6527880" y="190440"/>
              <a:ext cx="2076120" cy="68544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logo.jpg" id="24" name="Google Shape;24;p4"/>
          <p:cNvPicPr preferRelativeResize="0"/>
          <p:nvPr/>
        </p:nvPicPr>
        <p:blipFill rotWithShape="1">
          <a:blip r:embed="rId2">
            <a:alphaModFix/>
          </a:blip>
          <a:srcRect b="0" l="0" r="0" t="0"/>
          <a:stretch/>
        </p:blipFill>
        <p:spPr>
          <a:xfrm>
            <a:off x="6553080" y="228600"/>
            <a:ext cx="1920600" cy="609120"/>
          </a:xfrm>
          <a:prstGeom prst="rect">
            <a:avLst/>
          </a:prstGeom>
          <a:noFill/>
          <a:ln>
            <a:noFill/>
          </a:ln>
        </p:spPr>
      </p:pic>
      <p:sp>
        <p:nvSpPr>
          <p:cNvPr id="25" name="Google Shape;25;p4"/>
          <p:cNvSpPr txBox="1"/>
          <p:nvPr>
            <p:ph type="title"/>
          </p:nvPr>
        </p:nvSpPr>
        <p:spPr>
          <a:xfrm>
            <a:off x="0" y="0"/>
            <a:ext cx="6476760" cy="837720"/>
          </a:xfrm>
          <a:prstGeom prst="rect">
            <a:avLst/>
          </a:prstGeom>
          <a:noFill/>
          <a:ln>
            <a:noFill/>
          </a:ln>
        </p:spPr>
        <p:txBody>
          <a:bodyPr anchorCtr="0" anchor="ctr"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6" name="Google Shape;26;p4"/>
          <p:cNvSpPr txBox="1"/>
          <p:nvPr>
            <p:ph idx="1" type="body"/>
          </p:nvPr>
        </p:nvSpPr>
        <p:spPr>
          <a:xfrm>
            <a:off x="457200" y="1371600"/>
            <a:ext cx="8229240" cy="4525560"/>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7" name="Google Shape;27;p4"/>
          <p:cNvSpPr txBox="1"/>
          <p:nvPr>
            <p:ph idx="10" type="dt"/>
          </p:nvPr>
        </p:nvSpPr>
        <p:spPr>
          <a:xfrm>
            <a:off x="457200" y="6356520"/>
            <a:ext cx="2133360" cy="36468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8" name="Google Shape;28;p4"/>
          <p:cNvSpPr txBox="1"/>
          <p:nvPr>
            <p:ph idx="11" type="ftr"/>
          </p:nvPr>
        </p:nvSpPr>
        <p:spPr>
          <a:xfrm>
            <a:off x="3124080" y="6356520"/>
            <a:ext cx="2895120" cy="36468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9" name="Google Shape;29;p4"/>
          <p:cNvSpPr txBox="1"/>
          <p:nvPr>
            <p:ph idx="12" type="sldNum"/>
          </p:nvPr>
        </p:nvSpPr>
        <p:spPr>
          <a:xfrm>
            <a:off x="6553080" y="6356520"/>
            <a:ext cx="2133360" cy="36468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1pPr>
            <a:lvl2pPr indent="0" lvl="1"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2pPr>
            <a:lvl3pPr indent="0" lvl="2"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3pPr>
            <a:lvl4pPr indent="0" lvl="3"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4pPr>
            <a:lvl5pPr indent="0" lvl="4"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5pPr>
            <a:lvl6pPr indent="0" lvl="5"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6pPr>
            <a:lvl7pPr indent="0" lvl="6"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7pPr>
            <a:lvl8pPr indent="0" lvl="7"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8pPr>
            <a:lvl9pPr indent="0" lvl="8" marL="0" marR="0" rtl="0" algn="r">
              <a:lnSpc>
                <a:spcPct val="100000"/>
              </a:lnSpc>
              <a:spcBef>
                <a:spcPts val="0"/>
              </a:spcBef>
              <a:buNone/>
              <a:defRPr b="0" i="0" sz="1200" u="none" cap="none" strike="noStrik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solidFill>
                <a:schemeClr val="dk1"/>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txBox="1"/>
          <p:nvPr/>
        </p:nvSpPr>
        <p:spPr>
          <a:xfrm>
            <a:off x="0" y="840631"/>
            <a:ext cx="9144000" cy="537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None/>
            </a:pPr>
            <a:r>
              <a:rPr b="1" i="0" lang="en-US" sz="1800" u="none" cap="none" strike="noStrike">
                <a:solidFill>
                  <a:schemeClr val="dk1"/>
                </a:solidFill>
                <a:latin typeface="Times New Roman"/>
                <a:ea typeface="Times New Roman"/>
                <a:cs typeface="Times New Roman"/>
                <a:sym typeface="Times New Roman"/>
              </a:rPr>
              <a:t>Project Presentation of CO-OP Project at Industry (Module-2) (22CS421)</a:t>
            </a:r>
            <a:endParaRPr b="1" i="0" sz="1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rPr b="0" i="0" lang="en-US" sz="2000" u="none" cap="none" strike="noStrike">
                <a:solidFill>
                  <a:schemeClr val="dk1"/>
                </a:solidFill>
                <a:latin typeface="Times New Roman"/>
                <a:ea typeface="Times New Roman"/>
                <a:cs typeface="Times New Roman"/>
                <a:sym typeface="Times New Roman"/>
              </a:rPr>
              <a:t>On</a:t>
            </a:r>
            <a:endParaRPr sz="2000">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t/>
            </a:r>
            <a:endParaRPr sz="2000">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rPr lang="en-US" sz="2100">
                <a:solidFill>
                  <a:schemeClr val="dk1"/>
                </a:solidFill>
                <a:latin typeface="Times New Roman"/>
                <a:ea typeface="Times New Roman"/>
                <a:cs typeface="Times New Roman"/>
                <a:sym typeface="Times New Roman"/>
              </a:rPr>
              <a:t>Effect of Screen Time on Productivity and Mental Health Among University Students: A Data-Driven and Machine Learning Approach</a:t>
            </a:r>
            <a:r>
              <a:rPr lang="en-US" sz="3000">
                <a:solidFill>
                  <a:schemeClr val="dk1"/>
                </a:solidFill>
                <a:latin typeface="Times New Roman"/>
                <a:ea typeface="Times New Roman"/>
                <a:cs typeface="Times New Roman"/>
                <a:sym typeface="Times New Roman"/>
              </a:rPr>
              <a:t> </a:t>
            </a:r>
            <a:endParaRPr b="0" i="1" sz="2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br>
              <a:rPr b="0" i="0" lang="en-US" sz="2000" u="none" cap="none" strike="noStrike">
                <a:solidFill>
                  <a:srgbClr val="000000"/>
                </a:solidFill>
                <a:latin typeface="Times New Roman"/>
                <a:ea typeface="Times New Roman"/>
                <a:cs typeface="Times New Roman"/>
                <a:sym typeface="Times New Roman"/>
              </a:rPr>
            </a:br>
            <a:r>
              <a:rPr lang="en-US" sz="2000">
                <a:latin typeface="Times New Roman"/>
                <a:ea typeface="Times New Roman"/>
                <a:cs typeface="Times New Roman"/>
                <a:sym typeface="Times New Roman"/>
              </a:rPr>
              <a:t>Saanchi Madaan</a:t>
            </a:r>
            <a:endParaRPr/>
          </a:p>
          <a:p>
            <a:pPr indent="0" lvl="0" marL="0" marR="0" rtl="0" algn="ctr">
              <a:lnSpc>
                <a:spcPct val="100000"/>
              </a:lnSpc>
              <a:spcBef>
                <a:spcPts val="400"/>
              </a:spcBef>
              <a:spcAft>
                <a:spcPts val="0"/>
              </a:spcAft>
              <a:buNone/>
            </a:pPr>
            <a:r>
              <a:rPr lang="en-US" sz="2000">
                <a:latin typeface="Times New Roman"/>
                <a:ea typeface="Times New Roman"/>
                <a:cs typeface="Times New Roman"/>
                <a:sym typeface="Times New Roman"/>
              </a:rPr>
              <a:t>2210992199</a:t>
            </a:r>
            <a:endParaRPr/>
          </a:p>
          <a:p>
            <a:pPr indent="0" lvl="0" marL="0" marR="0" rtl="0" algn="ctr">
              <a:lnSpc>
                <a:spcPct val="100000"/>
              </a:lnSpc>
              <a:spcBef>
                <a:spcPts val="400"/>
              </a:spcBef>
              <a:spcAft>
                <a:spcPts val="0"/>
              </a:spcAft>
              <a:buNone/>
            </a:pPr>
            <a:r>
              <a:t/>
            </a:r>
            <a:endParaRPr b="0" i="0" sz="20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rPr b="0" i="0" lang="en-US" sz="2000" u="none" cap="none" strike="noStrike">
                <a:solidFill>
                  <a:srgbClr val="000000"/>
                </a:solidFill>
                <a:latin typeface="Times New Roman"/>
                <a:ea typeface="Times New Roman"/>
                <a:cs typeface="Times New Roman"/>
                <a:sym typeface="Times New Roman"/>
              </a:rPr>
              <a:t>Supervised By</a:t>
            </a:r>
            <a:endParaRPr/>
          </a:p>
          <a:p>
            <a:pPr indent="0" lvl="0" marL="0" marR="0" rtl="0" algn="ctr">
              <a:lnSpc>
                <a:spcPct val="100000"/>
              </a:lnSpc>
              <a:spcBef>
                <a:spcPts val="400"/>
              </a:spcBef>
              <a:spcAft>
                <a:spcPts val="0"/>
              </a:spcAft>
              <a:buNone/>
            </a:pPr>
            <a:r>
              <a:rPr lang="en-US" sz="2000">
                <a:latin typeface="Times New Roman"/>
                <a:ea typeface="Times New Roman"/>
                <a:cs typeface="Times New Roman"/>
                <a:sym typeface="Times New Roman"/>
              </a:rPr>
              <a:t>Dr. Simarjit Kaur</a:t>
            </a:r>
            <a:endParaRPr sz="2000">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rPr lang="en-US" sz="2000">
                <a:solidFill>
                  <a:schemeClr val="dk1"/>
                </a:solidFill>
                <a:latin typeface="Times New Roman"/>
                <a:ea typeface="Times New Roman"/>
                <a:cs typeface="Times New Roman"/>
                <a:sym typeface="Times New Roman"/>
              </a:rPr>
              <a:t>Associate Professor, Department of Computer Science and Engineering</a:t>
            </a:r>
            <a:endParaRPr sz="2000">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t/>
            </a:r>
            <a:endParaRPr b="0" i="0" sz="20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t/>
            </a:r>
            <a:endParaRPr b="0" i="0" sz="20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400"/>
              </a:spcBef>
              <a:spcAft>
                <a:spcPts val="0"/>
              </a:spcAft>
              <a:buNone/>
            </a:pPr>
            <a:r>
              <a:rPr b="0" i="0" lang="en-US" sz="2400" u="none" cap="none" strike="noStrike">
                <a:solidFill>
                  <a:schemeClr val="dk1"/>
                </a:solidFill>
                <a:latin typeface="Times New Roman"/>
                <a:ea typeface="Times New Roman"/>
                <a:cs typeface="Times New Roman"/>
                <a:sym typeface="Times New Roman"/>
              </a:rPr>
              <a:t>Department of Computer Science and Engineering, </a:t>
            </a:r>
            <a:endParaRPr/>
          </a:p>
          <a:p>
            <a:pPr indent="0" lvl="0" marL="0" marR="0" rtl="0" algn="ctr">
              <a:lnSpc>
                <a:spcPct val="100000"/>
              </a:lnSpc>
              <a:spcBef>
                <a:spcPts val="400"/>
              </a:spcBef>
              <a:spcAft>
                <a:spcPts val="0"/>
              </a:spcAft>
              <a:buNone/>
            </a:pPr>
            <a:r>
              <a:rPr b="0" i="0" lang="en-US" sz="2400" u="none" cap="none" strike="noStrike">
                <a:solidFill>
                  <a:schemeClr val="dk1"/>
                </a:solidFill>
                <a:latin typeface="Times New Roman"/>
                <a:ea typeface="Times New Roman"/>
                <a:cs typeface="Times New Roman"/>
                <a:sym typeface="Times New Roman"/>
              </a:rPr>
              <a:t>Chitkara University, Punjab</a:t>
            </a:r>
            <a:endParaRPr/>
          </a:p>
          <a:p>
            <a:pPr indent="0" lvl="0" marL="0" marR="0" rtl="0" algn="ctr">
              <a:lnSpc>
                <a:spcPct val="150000"/>
              </a:lnSpc>
              <a:spcBef>
                <a:spcPts val="400"/>
              </a:spcBef>
              <a:spcAft>
                <a:spcPts val="0"/>
              </a:spcAft>
              <a:buNone/>
            </a:pPr>
            <a:r>
              <a:t/>
            </a:r>
            <a:endParaRPr b="0" i="0" sz="2000" u="none" cap="none" strike="noStrike">
              <a:solidFill>
                <a:srgbClr val="000000"/>
              </a:solidFill>
              <a:latin typeface="Calibri"/>
              <a:ea typeface="Calibri"/>
              <a:cs typeface="Calibri"/>
              <a:sym typeface="Calibri"/>
            </a:endParaRPr>
          </a:p>
          <a:p>
            <a:pPr indent="0" lvl="0" marL="0" marR="0" rtl="0" algn="l">
              <a:lnSpc>
                <a:spcPct val="100000"/>
              </a:lnSpc>
              <a:spcBef>
                <a:spcPts val="641"/>
              </a:spcBef>
              <a:spcAft>
                <a:spcPts val="0"/>
              </a:spcAft>
              <a:buNone/>
            </a:pPr>
            <a:r>
              <a:t/>
            </a:r>
            <a:endParaRPr b="0" i="0" sz="2000" u="none" cap="none" strike="noStrike">
              <a:solidFill>
                <a:srgbClr val="000000"/>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2"/>
          <p:cNvSpPr txBox="1"/>
          <p:nvPr/>
        </p:nvSpPr>
        <p:spPr>
          <a:xfrm>
            <a:off x="255350" y="0"/>
            <a:ext cx="6221400" cy="837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US" sz="3200" u="none" cap="none" strike="noStrike">
                <a:solidFill>
                  <a:schemeClr val="dk1"/>
                </a:solidFill>
                <a:latin typeface="Times New Roman"/>
                <a:ea typeface="Times New Roman"/>
                <a:cs typeface="Times New Roman"/>
                <a:sym typeface="Times New Roman"/>
              </a:rPr>
              <a:t>Introduction</a:t>
            </a:r>
            <a:endParaRPr b="0" i="0" sz="3000" u="none" cap="none" strike="noStrike">
              <a:solidFill>
                <a:srgbClr val="000000"/>
              </a:solidFill>
              <a:latin typeface="Times New Roman"/>
              <a:ea typeface="Times New Roman"/>
              <a:cs typeface="Times New Roman"/>
              <a:sym typeface="Times New Roman"/>
            </a:endParaRPr>
          </a:p>
        </p:txBody>
      </p:sp>
      <p:sp>
        <p:nvSpPr>
          <p:cNvPr id="90" name="Google Shape;90;p2"/>
          <p:cNvSpPr txBox="1"/>
          <p:nvPr/>
        </p:nvSpPr>
        <p:spPr>
          <a:xfrm>
            <a:off x="6553080" y="6356520"/>
            <a:ext cx="2133360" cy="36468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1" i="0" lang="en-US" sz="1200" u="none" cap="none" strike="noStrike">
                <a:solidFill>
                  <a:srgbClr val="000000"/>
                </a:solidFill>
                <a:latin typeface="Calibri"/>
                <a:ea typeface="Calibri"/>
                <a:cs typeface="Calibri"/>
                <a:sym typeface="Calibri"/>
              </a:rPr>
              <a:t>‹#›</a:t>
            </a:fld>
            <a:endParaRPr b="0" i="0" sz="1200" u="none" cap="none" strike="noStrike">
              <a:solidFill>
                <a:schemeClr val="dk1"/>
              </a:solidFill>
              <a:latin typeface="Times New Roman"/>
              <a:ea typeface="Times New Roman"/>
              <a:cs typeface="Times New Roman"/>
              <a:sym typeface="Times New Roman"/>
            </a:endParaRPr>
          </a:p>
        </p:txBody>
      </p:sp>
      <p:sp>
        <p:nvSpPr>
          <p:cNvPr id="91" name="Google Shape;91;p2"/>
          <p:cNvSpPr txBox="1"/>
          <p:nvPr/>
        </p:nvSpPr>
        <p:spPr>
          <a:xfrm>
            <a:off x="164008" y="1109742"/>
            <a:ext cx="8838720" cy="4838571"/>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In the modern digital era, technology has become an integral part of students’ academic and personal lives, leading to a significant increase in daily screen usage. University students rely heavily on devices such as smartphones, laptops, and tablets for learning, communication, and entertainment. While technology offers numerous benefits, excessive screen time has emerged as a growing concern due to its potential impact on productivity and mental well-being. Prolonged exposure to screens can lead to issues such as reduced concentration, increased stress levels, and poor sleep quality. Therefore, it is essential to analyze and understand the relationship between screen time and its effects on students’ performance and psychological health using data-driven and machine learning approaches.</a:t>
            </a:r>
            <a:endParaRPr sz="2000">
              <a:latin typeface="Times New Roman"/>
              <a:ea typeface="Times New Roman"/>
              <a:cs typeface="Times New Roman"/>
              <a:sym typeface="Times New Roman"/>
            </a:endParaRPr>
          </a:p>
          <a:p>
            <a:pPr indent="0" lvl="0" marL="0" marR="0" rtl="0" algn="l">
              <a:lnSpc>
                <a:spcPct val="100000"/>
              </a:lnSpc>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g3e6813604e6_1_12"/>
          <p:cNvSpPr txBox="1"/>
          <p:nvPr>
            <p:ph type="title"/>
          </p:nvPr>
        </p:nvSpPr>
        <p:spPr>
          <a:xfrm>
            <a:off x="347775" y="0"/>
            <a:ext cx="51384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Problem Statement</a:t>
            </a:r>
            <a:r>
              <a:rPr lang="en-US"/>
              <a:t> </a:t>
            </a:r>
            <a:endParaRPr/>
          </a:p>
        </p:txBody>
      </p:sp>
      <p:sp>
        <p:nvSpPr>
          <p:cNvPr id="98" name="Google Shape;98;g3e6813604e6_1_12"/>
          <p:cNvSpPr txBox="1"/>
          <p:nvPr>
            <p:ph idx="1" type="body"/>
          </p:nvPr>
        </p:nvSpPr>
        <p:spPr>
          <a:xfrm>
            <a:off x="347775" y="1130295"/>
            <a:ext cx="8229300" cy="39774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None/>
            </a:pPr>
            <a:r>
              <a:rPr lang="en-US" sz="2000"/>
              <a:t>With the increasing use of digital devices, university students are spending more time on screens for both academic and personal activities. While technology is beneficial, excessive screen time has raised concerns regarding its impact on productivity and mental well-being. However, there is limited data-driven analysis to clearly understand these effects.</a:t>
            </a:r>
            <a:endParaRPr sz="2000"/>
          </a:p>
          <a:p>
            <a:pPr indent="0" lvl="0" marL="0" rtl="0" algn="l">
              <a:lnSpc>
                <a:spcPct val="115000"/>
              </a:lnSpc>
              <a:spcBef>
                <a:spcPts val="1200"/>
              </a:spcBef>
              <a:spcAft>
                <a:spcPts val="0"/>
              </a:spcAft>
              <a:buNone/>
            </a:pPr>
            <a:r>
              <a:rPr b="1" lang="en-US" sz="2000"/>
              <a:t>Key Issues:</a:t>
            </a:r>
            <a:endParaRPr b="1" sz="2000"/>
          </a:p>
          <a:p>
            <a:pPr indent="-355600" lvl="0" marL="457200" rtl="0" algn="l">
              <a:lnSpc>
                <a:spcPct val="115000"/>
              </a:lnSpc>
              <a:spcBef>
                <a:spcPts val="1200"/>
              </a:spcBef>
              <a:spcAft>
                <a:spcPts val="0"/>
              </a:spcAft>
              <a:buSzPts val="2000"/>
              <a:buChar char="●"/>
            </a:pPr>
            <a:r>
              <a:rPr lang="en-US" sz="2000"/>
              <a:t>Increased screen time</a:t>
            </a:r>
            <a:endParaRPr sz="2000"/>
          </a:p>
          <a:p>
            <a:pPr indent="-355600" lvl="0" marL="457200" rtl="0" algn="l">
              <a:lnSpc>
                <a:spcPct val="115000"/>
              </a:lnSpc>
              <a:spcBef>
                <a:spcPts val="0"/>
              </a:spcBef>
              <a:spcAft>
                <a:spcPts val="0"/>
              </a:spcAft>
              <a:buSzPts val="2000"/>
              <a:buChar char="●"/>
            </a:pPr>
            <a:r>
              <a:rPr lang="en-US" sz="2000"/>
              <a:t>Reduced productivity and focus</a:t>
            </a:r>
            <a:endParaRPr sz="2000"/>
          </a:p>
          <a:p>
            <a:pPr indent="-355600" lvl="0" marL="457200" rtl="0" algn="l">
              <a:lnSpc>
                <a:spcPct val="115000"/>
              </a:lnSpc>
              <a:spcBef>
                <a:spcPts val="0"/>
              </a:spcBef>
              <a:spcAft>
                <a:spcPts val="0"/>
              </a:spcAft>
              <a:buSzPts val="2000"/>
              <a:buChar char="●"/>
            </a:pPr>
            <a:r>
              <a:rPr lang="en-US" sz="2000"/>
              <a:t>Higher stress levels</a:t>
            </a:r>
            <a:endParaRPr sz="2000"/>
          </a:p>
          <a:p>
            <a:pPr indent="-355600" lvl="0" marL="457200" rtl="0" algn="l">
              <a:lnSpc>
                <a:spcPct val="115000"/>
              </a:lnSpc>
              <a:spcBef>
                <a:spcPts val="0"/>
              </a:spcBef>
              <a:spcAft>
                <a:spcPts val="0"/>
              </a:spcAft>
              <a:buSzPts val="2000"/>
              <a:buChar char="●"/>
            </a:pPr>
            <a:r>
              <a:rPr lang="en-US" sz="2000"/>
              <a:t>Poor sleep quality</a:t>
            </a:r>
            <a:endParaRPr sz="2000"/>
          </a:p>
          <a:p>
            <a:pPr indent="0" lvl="0" marL="0" rtl="0" algn="l">
              <a:lnSpc>
                <a:spcPct val="115000"/>
              </a:lnSpc>
              <a:spcBef>
                <a:spcPts val="1200"/>
              </a:spcBef>
              <a:spcAft>
                <a:spcPts val="0"/>
              </a:spcAft>
              <a:buNone/>
            </a:pPr>
            <a:r>
              <a:rPr lang="en-US" sz="2000"/>
              <a:t> </a:t>
            </a:r>
            <a:r>
              <a:rPr b="1" lang="en-US" sz="2000"/>
              <a:t>Core Problem:</a:t>
            </a:r>
            <a:br>
              <a:rPr b="1" lang="en-US" sz="2000"/>
            </a:br>
            <a:r>
              <a:rPr lang="en-US" sz="2000"/>
              <a:t> To analyze the impact of screen time on productivity, stress, and sleep quality using a data-driven approach.</a:t>
            </a:r>
            <a:endParaRPr sz="2000"/>
          </a:p>
          <a:p>
            <a:pPr indent="0" lvl="0" marL="0" rtl="0" algn="l">
              <a:spcBef>
                <a:spcPts val="1200"/>
              </a:spcBef>
              <a:spcAft>
                <a:spcPts val="0"/>
              </a:spcAft>
              <a:buNone/>
            </a:pPr>
            <a:r>
              <a:t/>
            </a:r>
            <a:endParaRPr sz="2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g3e6813604e6_1_22"/>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Objectives</a:t>
            </a:r>
            <a:endParaRPr sz="3200">
              <a:latin typeface="Times New Roman"/>
              <a:ea typeface="Times New Roman"/>
              <a:cs typeface="Times New Roman"/>
              <a:sym typeface="Times New Roman"/>
            </a:endParaRPr>
          </a:p>
        </p:txBody>
      </p:sp>
      <p:sp>
        <p:nvSpPr>
          <p:cNvPr id="105" name="Google Shape;105;g3e6813604e6_1_22"/>
          <p:cNvSpPr txBox="1"/>
          <p:nvPr>
            <p:ph idx="1" type="body"/>
          </p:nvPr>
        </p:nvSpPr>
        <p:spPr>
          <a:xfrm>
            <a:off x="457200" y="1172301"/>
            <a:ext cx="8229300" cy="44097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 main objectives of this study are:</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To analyze the relationship between screen time and productivity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To examine the impact of screen time on stress levels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To study the effect of screen time on sleep quality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To apply machine learning techniques for prediction and analysis</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g3e6813604e6_1_29"/>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Literature Review</a:t>
            </a:r>
            <a:r>
              <a:rPr lang="en-US"/>
              <a:t> </a:t>
            </a:r>
            <a:endParaRPr/>
          </a:p>
        </p:txBody>
      </p:sp>
      <p:sp>
        <p:nvSpPr>
          <p:cNvPr id="112" name="Google Shape;112;g3e6813604e6_1_29"/>
          <p:cNvSpPr txBox="1"/>
          <p:nvPr>
            <p:ph idx="1" type="body"/>
          </p:nvPr>
        </p:nvSpPr>
        <p:spPr>
          <a:xfrm>
            <a:off x="457200" y="1135676"/>
            <a:ext cx="8229300" cy="44463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Several studies have examined the impact of screen time on students’ behavior and mental health.</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Increased screen usage is linked to higher anxiety and depression levels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Excessive mobile phone use negatively affects academic performance</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Screen exposure, especially before sleep, disrupts sleep patterns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Media multitasking reduces attention and cognitive control</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Moderate screen use may not be harmful, but excessive use causes significant psychological effects</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However, most studies rely on traditional statistical methods, with limited use of machine learning for predictive analysis.</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g3e6813604e6_1_37"/>
          <p:cNvSpPr txBox="1"/>
          <p:nvPr>
            <p:ph type="title"/>
          </p:nvPr>
        </p:nvSpPr>
        <p:spPr>
          <a:xfrm>
            <a:off x="531200" y="0"/>
            <a:ext cx="49548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Methodology </a:t>
            </a:r>
            <a:endParaRPr sz="3200">
              <a:latin typeface="Times New Roman"/>
              <a:ea typeface="Times New Roman"/>
              <a:cs typeface="Times New Roman"/>
              <a:sym typeface="Times New Roman"/>
            </a:endParaRPr>
          </a:p>
        </p:txBody>
      </p:sp>
      <p:sp>
        <p:nvSpPr>
          <p:cNvPr id="119" name="Google Shape;119;g3e6813604e6_1_37"/>
          <p:cNvSpPr txBox="1"/>
          <p:nvPr>
            <p:ph idx="1" type="body"/>
          </p:nvPr>
        </p:nvSpPr>
        <p:spPr>
          <a:xfrm>
            <a:off x="457200" y="1245575"/>
            <a:ext cx="8229300" cy="43365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This study follows a data-driven approach to analyze the impact of screen time on students’ productivity and mental health.</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Char char="●"/>
            </a:pPr>
            <a:r>
              <a:rPr lang="en-US" sz="2000">
                <a:latin typeface="Times New Roman"/>
                <a:ea typeface="Times New Roman"/>
                <a:cs typeface="Times New Roman"/>
                <a:sym typeface="Times New Roman"/>
              </a:rPr>
              <a:t>Dataset of </a:t>
            </a:r>
            <a:r>
              <a:rPr b="1" lang="en-US" sz="2000">
                <a:latin typeface="Times New Roman"/>
                <a:ea typeface="Times New Roman"/>
                <a:cs typeface="Times New Roman"/>
                <a:sym typeface="Times New Roman"/>
              </a:rPr>
              <a:t>150 students</a:t>
            </a:r>
            <a:r>
              <a:rPr lang="en-US" sz="2000">
                <a:latin typeface="Times New Roman"/>
                <a:ea typeface="Times New Roman"/>
                <a:cs typeface="Times New Roman"/>
                <a:sym typeface="Times New Roman"/>
              </a:rPr>
              <a:t> collected with key variables:</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Screen Time</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Productivity</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Stress Levels</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Sleep Quality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Data preprocessing and analysis performed using:</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Python (Pandas, Matplotlib, Seaborn)</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Exploratory Data Analysis (EDA) used to identify patterns and relationships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Machine Learning model applied:</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Char char="○"/>
            </a:pPr>
            <a:r>
              <a:rPr b="1" lang="en-US" sz="2000">
                <a:latin typeface="Times New Roman"/>
                <a:ea typeface="Times New Roman"/>
                <a:cs typeface="Times New Roman"/>
                <a:sym typeface="Times New Roman"/>
              </a:rPr>
              <a:t>Linear Regression</a:t>
            </a:r>
            <a:r>
              <a:rPr lang="en-US" sz="2000">
                <a:latin typeface="Times New Roman"/>
                <a:ea typeface="Times New Roman"/>
                <a:cs typeface="Times New Roman"/>
                <a:sym typeface="Times New Roman"/>
              </a:rPr>
              <a:t> to predict productivity based on screen time</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g3e6813604e6_1_45"/>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Machine Learning Model </a:t>
            </a:r>
            <a:endParaRPr sz="3200">
              <a:latin typeface="Times New Roman"/>
              <a:ea typeface="Times New Roman"/>
              <a:cs typeface="Times New Roman"/>
              <a:sym typeface="Times New Roman"/>
            </a:endParaRPr>
          </a:p>
        </p:txBody>
      </p:sp>
      <p:sp>
        <p:nvSpPr>
          <p:cNvPr id="126" name="Google Shape;126;g3e6813604e6_1_45"/>
          <p:cNvSpPr txBox="1"/>
          <p:nvPr>
            <p:ph idx="1" type="body"/>
          </p:nvPr>
        </p:nvSpPr>
        <p:spPr>
          <a:xfrm>
            <a:off x="457200" y="1154001"/>
            <a:ext cx="8229300" cy="44280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A Linear Regression model was used to analyze the relationship between screen time and productivity.</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Char char="●"/>
            </a:pPr>
            <a:r>
              <a:rPr lang="en-US" sz="2000">
                <a:latin typeface="Times New Roman"/>
                <a:ea typeface="Times New Roman"/>
                <a:cs typeface="Times New Roman"/>
                <a:sym typeface="Times New Roman"/>
              </a:rPr>
              <a:t>Model Used: </a:t>
            </a:r>
            <a:r>
              <a:rPr b="1" lang="en-US" sz="2000">
                <a:latin typeface="Times New Roman"/>
                <a:ea typeface="Times New Roman"/>
                <a:cs typeface="Times New Roman"/>
                <a:sym typeface="Times New Roman"/>
              </a:rPr>
              <a:t>Linear Regression</a:t>
            </a:r>
            <a:endParaRPr b="1"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Objective: Predict productivity based on screen time</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Dataset Split:</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80% Training Data</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20% Testing Data</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Model Evaluation Metrics:</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Mean Squared Error (MSE)</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R² Score</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 model shows a negative relationship, indicating that increased screen time leads to lower productivity.</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g3e6813604e6_1_53"/>
          <p:cNvSpPr txBox="1"/>
          <p:nvPr>
            <p:ph type="title"/>
          </p:nvPr>
        </p:nvSpPr>
        <p:spPr>
          <a:xfrm>
            <a:off x="457200" y="0"/>
            <a:ext cx="57342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Exploratory Data Analysis (EDA) </a:t>
            </a:r>
            <a:endParaRPr sz="3200">
              <a:latin typeface="Times New Roman"/>
              <a:ea typeface="Times New Roman"/>
              <a:cs typeface="Times New Roman"/>
              <a:sym typeface="Times New Roman"/>
            </a:endParaRPr>
          </a:p>
        </p:txBody>
      </p:sp>
      <p:sp>
        <p:nvSpPr>
          <p:cNvPr id="133" name="Google Shape;133;g3e6813604e6_1_53"/>
          <p:cNvSpPr txBox="1"/>
          <p:nvPr>
            <p:ph idx="1" type="body"/>
          </p:nvPr>
        </p:nvSpPr>
        <p:spPr>
          <a:xfrm>
            <a:off x="457200" y="1154001"/>
            <a:ext cx="8229300" cy="44280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Exploratory Data Analysis was performed to identify patterns and relationships between variables.</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Scatter Plot: Shows relationship between screen time and productivity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Bar Chart: Displays average productivity across different screen time groups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Pie Chart: Represents distribution of students based on screen usage</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Key Insight:</a:t>
            </a:r>
            <a:br>
              <a:rPr lang="en-US" sz="2000">
                <a:latin typeface="Times New Roman"/>
                <a:ea typeface="Times New Roman"/>
                <a:cs typeface="Times New Roman"/>
                <a:sym typeface="Times New Roman"/>
              </a:rPr>
            </a:br>
            <a:r>
              <a:rPr lang="en-US" sz="2000">
                <a:latin typeface="Times New Roman"/>
                <a:ea typeface="Times New Roman"/>
                <a:cs typeface="Times New Roman"/>
                <a:sym typeface="Times New Roman"/>
              </a:rPr>
              <a:t>Productivity decreases as screen time increases, showing a clear negative trend.</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pic>
        <p:nvPicPr>
          <p:cNvPr id="134" name="Google Shape;134;g3e6813604e6_1_53" title="scatterplot.png"/>
          <p:cNvPicPr preferRelativeResize="0"/>
          <p:nvPr/>
        </p:nvPicPr>
        <p:blipFill>
          <a:blip r:embed="rId3">
            <a:alphaModFix/>
          </a:blip>
          <a:stretch>
            <a:fillRect/>
          </a:stretch>
        </p:blipFill>
        <p:spPr>
          <a:xfrm>
            <a:off x="457195" y="4400975"/>
            <a:ext cx="2783125" cy="2126575"/>
          </a:xfrm>
          <a:prstGeom prst="rect">
            <a:avLst/>
          </a:prstGeom>
          <a:noFill/>
          <a:ln>
            <a:noFill/>
          </a:ln>
        </p:spPr>
      </p:pic>
      <p:pic>
        <p:nvPicPr>
          <p:cNvPr id="135" name="Google Shape;135;g3e6813604e6_1_53" title="bargraph.png"/>
          <p:cNvPicPr preferRelativeResize="0"/>
          <p:nvPr/>
        </p:nvPicPr>
        <p:blipFill>
          <a:blip r:embed="rId4">
            <a:alphaModFix/>
          </a:blip>
          <a:stretch>
            <a:fillRect/>
          </a:stretch>
        </p:blipFill>
        <p:spPr>
          <a:xfrm>
            <a:off x="3408275" y="4400985"/>
            <a:ext cx="2783125" cy="2274890"/>
          </a:xfrm>
          <a:prstGeom prst="rect">
            <a:avLst/>
          </a:prstGeom>
          <a:noFill/>
          <a:ln>
            <a:noFill/>
          </a:ln>
        </p:spPr>
      </p:pic>
      <p:pic>
        <p:nvPicPr>
          <p:cNvPr id="136" name="Google Shape;136;g3e6813604e6_1_53" title="piechart.png"/>
          <p:cNvPicPr preferRelativeResize="0"/>
          <p:nvPr/>
        </p:nvPicPr>
        <p:blipFill>
          <a:blip r:embed="rId5">
            <a:alphaModFix/>
          </a:blip>
          <a:stretch>
            <a:fillRect/>
          </a:stretch>
        </p:blipFill>
        <p:spPr>
          <a:xfrm>
            <a:off x="6359350" y="4400975"/>
            <a:ext cx="2597059" cy="21265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g3e6813604e6_1_61"/>
          <p:cNvSpPr txBox="1"/>
          <p:nvPr>
            <p:ph type="title"/>
          </p:nvPr>
        </p:nvSpPr>
        <p:spPr>
          <a:xfrm>
            <a:off x="457200" y="439625"/>
            <a:ext cx="5028900" cy="474300"/>
          </a:xfrm>
          <a:prstGeom prst="rect">
            <a:avLst/>
          </a:prstGeom>
        </p:spPr>
        <p:txBody>
          <a:bodyPr anchorCtr="0" anchor="ctr" bIns="0" lIns="0" spcFirstLastPara="1" rIns="0" wrap="square" tIns="0">
            <a:noAutofit/>
          </a:bodyPr>
          <a:lstStyle/>
          <a:p>
            <a:pPr indent="0" lvl="0" marL="0" rtl="0" algn="l">
              <a:lnSpc>
                <a:spcPct val="115000"/>
              </a:lnSpc>
              <a:spcBef>
                <a:spcPts val="2400"/>
              </a:spcBef>
              <a:spcAft>
                <a:spcPts val="0"/>
              </a:spcAft>
              <a:buClr>
                <a:schemeClr val="dk1"/>
              </a:buClr>
              <a:buSzPts val="1100"/>
              <a:buFont typeface="Arial"/>
              <a:buNone/>
            </a:pPr>
            <a:r>
              <a:rPr lang="en-US" sz="3200">
                <a:latin typeface="Times New Roman"/>
                <a:ea typeface="Times New Roman"/>
                <a:cs typeface="Times New Roman"/>
                <a:sym typeface="Times New Roman"/>
              </a:rPr>
              <a:t>Correlation Analysis</a:t>
            </a:r>
            <a:endParaRPr sz="3200">
              <a:latin typeface="Times New Roman"/>
              <a:ea typeface="Times New Roman"/>
              <a:cs typeface="Times New Roman"/>
              <a:sym typeface="Times New Roman"/>
            </a:endParaRPr>
          </a:p>
          <a:p>
            <a:pPr indent="0" lvl="0" marL="0" rtl="0" algn="l">
              <a:spcBef>
                <a:spcPts val="600"/>
              </a:spcBef>
              <a:spcAft>
                <a:spcPts val="0"/>
              </a:spcAft>
              <a:buNone/>
            </a:pPr>
            <a:r>
              <a:t/>
            </a:r>
            <a:endParaRPr sz="3200">
              <a:latin typeface="Times New Roman"/>
              <a:ea typeface="Times New Roman"/>
              <a:cs typeface="Times New Roman"/>
              <a:sym typeface="Times New Roman"/>
            </a:endParaRPr>
          </a:p>
        </p:txBody>
      </p:sp>
      <p:sp>
        <p:nvSpPr>
          <p:cNvPr id="143" name="Google Shape;143;g3e6813604e6_1_61"/>
          <p:cNvSpPr txBox="1"/>
          <p:nvPr>
            <p:ph idx="1" type="body"/>
          </p:nvPr>
        </p:nvSpPr>
        <p:spPr>
          <a:xfrm>
            <a:off x="457200" y="1154001"/>
            <a:ext cx="8229300" cy="44280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Correlation analysis was performed to understand the relationship between screen time and other variables.</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Negative correlation between:</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Screen Time and Productivity</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Screen Time and Sleep Quality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Positive correlation between:</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Screen Time and Stress Levels</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Key Insight:</a:t>
            </a:r>
            <a:br>
              <a:rPr lang="en-US" sz="2000">
                <a:latin typeface="Times New Roman"/>
                <a:ea typeface="Times New Roman"/>
                <a:cs typeface="Times New Roman"/>
                <a:sym typeface="Times New Roman"/>
              </a:rPr>
            </a:br>
            <a:r>
              <a:rPr lang="en-US" sz="2000">
                <a:latin typeface="Times New Roman"/>
                <a:ea typeface="Times New Roman"/>
                <a:cs typeface="Times New Roman"/>
                <a:sym typeface="Times New Roman"/>
              </a:rPr>
              <a:t>Higher screen time leads to lower productivity and sleep quality, while increasing stress levels.</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pic>
        <p:nvPicPr>
          <p:cNvPr id="144" name="Google Shape;144;g3e6813604e6_1_61" title="correlationmatrix.png"/>
          <p:cNvPicPr preferRelativeResize="0"/>
          <p:nvPr/>
        </p:nvPicPr>
        <p:blipFill>
          <a:blip r:embed="rId3">
            <a:alphaModFix/>
          </a:blip>
          <a:stretch>
            <a:fillRect/>
          </a:stretch>
        </p:blipFill>
        <p:spPr>
          <a:xfrm>
            <a:off x="3465488" y="4867650"/>
            <a:ext cx="2212726" cy="1737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e6813604e6_1_70"/>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Results &amp; Discussion </a:t>
            </a:r>
            <a:endParaRPr sz="3200">
              <a:latin typeface="Times New Roman"/>
              <a:ea typeface="Times New Roman"/>
              <a:cs typeface="Times New Roman"/>
              <a:sym typeface="Times New Roman"/>
            </a:endParaRPr>
          </a:p>
        </p:txBody>
      </p:sp>
      <p:sp>
        <p:nvSpPr>
          <p:cNvPr id="151" name="Google Shape;151;g3e6813604e6_1_70"/>
          <p:cNvSpPr txBox="1"/>
          <p:nvPr>
            <p:ph idx="1" type="body"/>
          </p:nvPr>
        </p:nvSpPr>
        <p:spPr>
          <a:xfrm>
            <a:off x="457200" y="1172301"/>
            <a:ext cx="8229300" cy="44097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 analysis highlights the significant impact of screen time on students’ productivity and mental health.</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Moderate screen usage can support learning and productivity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Excessive screen time leads to:</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Decreased productivity</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Increased stress levels</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Poor sleep quality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Key factors affecting performance:</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Distraction</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Cognitive fatigue</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Reduced concentration</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 machine learning model confirms a negative relationship between screen time and productivity.</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g3e6813604e6_1_78"/>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Conclusion</a:t>
            </a:r>
            <a:endParaRPr sz="3200">
              <a:latin typeface="Times New Roman"/>
              <a:ea typeface="Times New Roman"/>
              <a:cs typeface="Times New Roman"/>
              <a:sym typeface="Times New Roman"/>
            </a:endParaRPr>
          </a:p>
        </p:txBody>
      </p:sp>
      <p:sp>
        <p:nvSpPr>
          <p:cNvPr id="158" name="Google Shape;158;g3e6813604e6_1_78"/>
          <p:cNvSpPr txBox="1"/>
          <p:nvPr>
            <p:ph idx="1" type="body"/>
          </p:nvPr>
        </p:nvSpPr>
        <p:spPr>
          <a:xfrm>
            <a:off x="457200" y="1135676"/>
            <a:ext cx="8229300" cy="44463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This study highlights that screen time plays a significant role in influencing students’ productivity and mental well-being.</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Excessive screen usage leads to:</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Reduced productivity</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Increased stress levels</a:t>
            </a:r>
            <a:endParaRPr sz="2000">
              <a:latin typeface="Times New Roman"/>
              <a:ea typeface="Times New Roman"/>
              <a:cs typeface="Times New Roman"/>
              <a:sym typeface="Times New Roman"/>
            </a:endParaRPr>
          </a:p>
          <a:p>
            <a:pPr indent="-355600" lvl="1" marL="9144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Poor sleep quality</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Controlled and mindful usage of digital devices can improve overall performance and well-being</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A data-driven and machine learning approach helps in better understanding and predicting these effects.</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g3e6813604e6_1_85"/>
          <p:cNvSpPr txBox="1"/>
          <p:nvPr>
            <p:ph type="title"/>
          </p:nvPr>
        </p:nvSpPr>
        <p:spPr>
          <a:xfrm>
            <a:off x="457200" y="0"/>
            <a:ext cx="5028900" cy="9141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US" sz="3200">
                <a:latin typeface="Times New Roman"/>
                <a:ea typeface="Times New Roman"/>
                <a:cs typeface="Times New Roman"/>
                <a:sym typeface="Times New Roman"/>
              </a:rPr>
              <a:t>Recommendations </a:t>
            </a:r>
            <a:endParaRPr sz="3200">
              <a:latin typeface="Times New Roman"/>
              <a:ea typeface="Times New Roman"/>
              <a:cs typeface="Times New Roman"/>
              <a:sym typeface="Times New Roman"/>
            </a:endParaRPr>
          </a:p>
        </p:txBody>
      </p:sp>
      <p:sp>
        <p:nvSpPr>
          <p:cNvPr id="165" name="Google Shape;165;g3e6813604e6_1_85"/>
          <p:cNvSpPr txBox="1"/>
          <p:nvPr>
            <p:ph idx="1" type="body"/>
          </p:nvPr>
        </p:nvSpPr>
        <p:spPr>
          <a:xfrm>
            <a:off x="457200" y="1117351"/>
            <a:ext cx="8229300" cy="44646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To improve productivity and mental well-being, the following measures are suggested:</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Limit non-academic screen time</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Take regular breaks during screen usage</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Avoid screen exposure before sleep</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Maintain a balanced daily routine</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Practice digital detox to reduce dependency</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Adopting these habits can help students achieve better focus, reduced stress, and improved sleep quality.</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g3e6813604e6_1_93"/>
          <p:cNvSpPr txBox="1"/>
          <p:nvPr>
            <p:ph type="title"/>
          </p:nvPr>
        </p:nvSpPr>
        <p:spPr>
          <a:xfrm>
            <a:off x="457200" y="439625"/>
            <a:ext cx="5028900" cy="474300"/>
          </a:xfrm>
          <a:prstGeom prst="rect">
            <a:avLst/>
          </a:prstGeom>
        </p:spPr>
        <p:txBody>
          <a:bodyPr anchorCtr="0" anchor="ctr" bIns="0" lIns="0" spcFirstLastPara="1" rIns="0" wrap="square" tIns="0">
            <a:noAutofit/>
          </a:bodyPr>
          <a:lstStyle/>
          <a:p>
            <a:pPr indent="0" lvl="0" marL="0" rtl="0" algn="l">
              <a:lnSpc>
                <a:spcPct val="115000"/>
              </a:lnSpc>
              <a:spcBef>
                <a:spcPts val="2400"/>
              </a:spcBef>
              <a:spcAft>
                <a:spcPts val="0"/>
              </a:spcAft>
              <a:buClr>
                <a:schemeClr val="dk1"/>
              </a:buClr>
              <a:buSzPts val="1100"/>
              <a:buFont typeface="Arial"/>
              <a:buNone/>
            </a:pPr>
            <a:r>
              <a:rPr lang="en-US" sz="3200">
                <a:latin typeface="Times New Roman"/>
                <a:ea typeface="Times New Roman"/>
                <a:cs typeface="Times New Roman"/>
                <a:sym typeface="Times New Roman"/>
              </a:rPr>
              <a:t>Future Work</a:t>
            </a:r>
            <a:endParaRPr sz="3200">
              <a:latin typeface="Times New Roman"/>
              <a:ea typeface="Times New Roman"/>
              <a:cs typeface="Times New Roman"/>
              <a:sym typeface="Times New Roman"/>
            </a:endParaRPr>
          </a:p>
          <a:p>
            <a:pPr indent="0" lvl="0" marL="0" rtl="0" algn="l">
              <a:spcBef>
                <a:spcPts val="600"/>
              </a:spcBef>
              <a:spcAft>
                <a:spcPts val="0"/>
              </a:spcAft>
              <a:buNone/>
            </a:pPr>
            <a:r>
              <a:t/>
            </a:r>
            <a:endParaRPr sz="3200">
              <a:latin typeface="Times New Roman"/>
              <a:ea typeface="Times New Roman"/>
              <a:cs typeface="Times New Roman"/>
              <a:sym typeface="Times New Roman"/>
            </a:endParaRPr>
          </a:p>
        </p:txBody>
      </p:sp>
      <p:sp>
        <p:nvSpPr>
          <p:cNvPr id="172" name="Google Shape;172;g3e6813604e6_1_93"/>
          <p:cNvSpPr txBox="1"/>
          <p:nvPr>
            <p:ph idx="1" type="body"/>
          </p:nvPr>
        </p:nvSpPr>
        <p:spPr>
          <a:xfrm>
            <a:off x="457200" y="1154001"/>
            <a:ext cx="8229300" cy="4428000"/>
          </a:xfrm>
          <a:prstGeom prst="rect">
            <a:avLst/>
          </a:prstGeom>
        </p:spPr>
        <p:txBody>
          <a:bodyPr anchorCtr="0" anchor="t" bIns="0" lIns="0" spcFirstLastPara="1" rIns="0" wrap="square" tIns="0">
            <a:normAutofit/>
          </a:bodyPr>
          <a:lstStyle/>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 study can be extended in the following ways:</a:t>
            </a:r>
            <a:endParaRPr sz="2000">
              <a:latin typeface="Times New Roman"/>
              <a:ea typeface="Times New Roman"/>
              <a:cs typeface="Times New Roman"/>
              <a:sym typeface="Times New Roman"/>
            </a:endParaRPr>
          </a:p>
          <a:p>
            <a:pPr indent="-355600" lvl="0" marL="457200" rtl="0" algn="l">
              <a:lnSpc>
                <a:spcPct val="115000"/>
              </a:lnSpc>
              <a:spcBef>
                <a:spcPts val="1200"/>
              </a:spcBef>
              <a:spcAft>
                <a:spcPts val="0"/>
              </a:spcAft>
              <a:buSzPts val="2000"/>
              <a:buFont typeface="Times New Roman"/>
              <a:buChar char="●"/>
            </a:pPr>
            <a:r>
              <a:rPr lang="en-US" sz="2000">
                <a:latin typeface="Times New Roman"/>
                <a:ea typeface="Times New Roman"/>
                <a:cs typeface="Times New Roman"/>
                <a:sym typeface="Times New Roman"/>
              </a:rPr>
              <a:t>Use advanced machine learning models for better prediction</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Increase dataset size for more accurate results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Collect real-time data using apps or tracking tools</a:t>
            </a:r>
            <a:endParaRPr sz="2000">
              <a:latin typeface="Times New Roman"/>
              <a:ea typeface="Times New Roman"/>
              <a:cs typeface="Times New Roman"/>
              <a:sym typeface="Times New Roman"/>
            </a:endParaRPr>
          </a:p>
          <a:p>
            <a:pPr indent="-355600" lvl="0" marL="457200" rtl="0" algn="l">
              <a:lnSpc>
                <a:spcPct val="115000"/>
              </a:lnSpc>
              <a:spcBef>
                <a:spcPts val="0"/>
              </a:spcBef>
              <a:spcAft>
                <a:spcPts val="0"/>
              </a:spcAft>
              <a:buSzPts val="2000"/>
              <a:buFont typeface="Times New Roman"/>
              <a:buChar char="●"/>
            </a:pPr>
            <a:r>
              <a:rPr lang="en-US" sz="2000">
                <a:latin typeface="Times New Roman"/>
                <a:ea typeface="Times New Roman"/>
                <a:cs typeface="Times New Roman"/>
                <a:sym typeface="Times New Roman"/>
              </a:rPr>
              <a:t>Analyze additional factors such as physical activity and lifestyle</a:t>
            </a:r>
            <a:endParaRPr sz="2000">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US" sz="2000">
                <a:latin typeface="Times New Roman"/>
                <a:ea typeface="Times New Roman"/>
                <a:cs typeface="Times New Roman"/>
                <a:sym typeface="Times New Roman"/>
              </a:rPr>
              <a:t>These improvements can provide deeper insights into the impact of screen time on students’ behavior and performance.</a:t>
            </a:r>
            <a:endParaRPr sz="2000">
              <a:latin typeface="Times New Roman"/>
              <a:ea typeface="Times New Roman"/>
              <a:cs typeface="Times New Roman"/>
              <a:sym typeface="Times New Roman"/>
            </a:endParaRPr>
          </a:p>
          <a:p>
            <a:pPr indent="0" lvl="0" marL="0" rtl="0" algn="l">
              <a:spcBef>
                <a:spcPts val="1200"/>
              </a:spcBef>
              <a:spcAft>
                <a:spcPts val="0"/>
              </a:spcAft>
              <a:buNone/>
            </a:pPr>
            <a:r>
              <a:t/>
            </a:r>
            <a:endParaRPr sz="2000">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
          <p:cNvSpPr txBox="1"/>
          <p:nvPr/>
        </p:nvSpPr>
        <p:spPr>
          <a:xfrm>
            <a:off x="1297577" y="2821578"/>
            <a:ext cx="6705599" cy="1410788"/>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b="0" i="0" lang="en-US" sz="5400" u="none" cap="none" strike="noStrike">
                <a:solidFill>
                  <a:schemeClr val="dk1"/>
                </a:solidFill>
                <a:latin typeface="Times New Roman"/>
                <a:ea typeface="Times New Roman"/>
                <a:cs typeface="Times New Roman"/>
                <a:sym typeface="Times New Roman"/>
              </a:rPr>
              <a:t>Thank You</a:t>
            </a:r>
            <a:endParaRPr b="0" i="0" sz="5400" u="none" cap="none" strike="noStrike">
              <a:solidFill>
                <a:srgbClr val="000000"/>
              </a:solidFill>
              <a:latin typeface="Times New Roman"/>
              <a:ea typeface="Times New Roman"/>
              <a:cs typeface="Times New Roman"/>
              <a:sym typeface="Times New Roman"/>
            </a:endParaRPr>
          </a:p>
        </p:txBody>
      </p:sp>
      <p:sp>
        <p:nvSpPr>
          <p:cNvPr id="178" name="Google Shape;178;p3"/>
          <p:cNvSpPr txBox="1"/>
          <p:nvPr/>
        </p:nvSpPr>
        <p:spPr>
          <a:xfrm>
            <a:off x="6553080" y="6356520"/>
            <a:ext cx="2133360" cy="36468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1" i="0" lang="en-US" sz="1200" u="none" cap="none" strike="noStrike">
                <a:solidFill>
                  <a:srgbClr val="000000"/>
                </a:solidFill>
                <a:latin typeface="Calibri"/>
                <a:ea typeface="Calibri"/>
                <a:cs typeface="Calibri"/>
                <a:sym typeface="Calibri"/>
              </a:rPr>
              <a:t>‹#›</a:t>
            </a:fld>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2010-04-09T07:36:15Z</dcterms:created>
  <dc:creator>ABC</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